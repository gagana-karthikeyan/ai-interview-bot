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Cantarell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4" roundtripDataSignature="AMtx7mjB9Lt67y0AWInN+MaedO0hzPuR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antarell-regular.fntdata"/><Relationship Id="rId20" Type="http://schemas.openxmlformats.org/officeDocument/2006/relationships/slide" Target="slides/slide15.xml"/><Relationship Id="rId42" Type="http://schemas.openxmlformats.org/officeDocument/2006/relationships/font" Target="fonts/Cantarell-italic.fntdata"/><Relationship Id="rId41" Type="http://schemas.openxmlformats.org/officeDocument/2006/relationships/font" Target="fonts/Cantarell-bold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Cantarell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037c322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g3e037c3221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088521fe2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d088521fe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088521fe2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d088521fe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c1df7fb45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cc1df7fb4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088521fe2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d088521fe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088521fe2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d088521fe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088521fe2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d088521fe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088521fe2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d088521fe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088521fe2_0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d088521fe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088521fe2_0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d088521fe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088521fe2_0_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d088521fe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088521fe2_0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d088521fe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088521fe2_0_1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d088521fe2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088521fe2_0_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d088521fe2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088521fe2_0_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d088521fe2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088521fe2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d088521fe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088521fe2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d088521fe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c1df7fb45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cc1df7fb4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037c32216_0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e037c3221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c1df7fb45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cc1df7fb4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088521fe2_0_1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d088521fe2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088521fe2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d088521fe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037c32216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e037c3221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037c32216_0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e037c3221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7991d7ea6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d7991d7ea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and gold rectangles&#10;&#10;Description automatically generated with low confidence" id="14" name="Google Shape;14;p14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logo, font, graphics&#10;&#10;Description automatically generated" id="15" name="Google Shape;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7532" y="1"/>
            <a:ext cx="2016469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4"/>
          <p:cNvSpPr/>
          <p:nvPr/>
        </p:nvSpPr>
        <p:spPr>
          <a:xfrm>
            <a:off x="0" y="4676776"/>
            <a:ext cx="9144000" cy="4668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4"/>
          <p:cNvSpPr/>
          <p:nvPr/>
        </p:nvSpPr>
        <p:spPr>
          <a:xfrm>
            <a:off x="0" y="5109210"/>
            <a:ext cx="9144000" cy="34200"/>
          </a:xfrm>
          <a:prstGeom prst="round2SameRect">
            <a:avLst>
              <a:gd fmla="val 0" name="adj1"/>
              <a:gd fmla="val 0" name="adj2"/>
            </a:avLst>
          </a:prstGeom>
          <a:solidFill>
            <a:srgbClr val="D7AC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32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32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32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3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3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32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33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slide" Target="/ppt/slides/slide33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slide" Target="/ppt/slides/slide33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next.js" TargetMode="External"/><Relationship Id="rId4" Type="http://schemas.openxmlformats.org/officeDocument/2006/relationships/slide" Target="/ppt/slides/slide33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slide" Target="/ppt/slides/slide33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slide" Target="/ppt/slides/slide8.xml"/><Relationship Id="rId4" Type="http://schemas.openxmlformats.org/officeDocument/2006/relationships/slide" Target="/ppt/slides/slide9.xml"/><Relationship Id="rId5" Type="http://schemas.openxmlformats.org/officeDocument/2006/relationships/slide" Target="/ppt/slides/slide10.xml"/><Relationship Id="rId6" Type="http://schemas.openxmlformats.org/officeDocument/2006/relationships/slide" Target="/ppt/slides/slide11.xml"/><Relationship Id="rId7" Type="http://schemas.openxmlformats.org/officeDocument/2006/relationships/slide" Target="/ppt/slides/slide12.xml"/><Relationship Id="rId8" Type="http://schemas.openxmlformats.org/officeDocument/2006/relationships/slide" Target="/ppt/slides/slide13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slide" Target="/ppt/slides/slide13.xml"/><Relationship Id="rId4" Type="http://schemas.openxmlformats.org/officeDocument/2006/relationships/slide" Target="/ppt/slides/slide15.xml"/><Relationship Id="rId5" Type="http://schemas.openxmlformats.org/officeDocument/2006/relationships/slide" Target="/ppt/slides/slide16.xml"/><Relationship Id="rId6" Type="http://schemas.openxmlformats.org/officeDocument/2006/relationships/slide" Target="/ppt/slides/slide17.xml"/><Relationship Id="rId7" Type="http://schemas.openxmlformats.org/officeDocument/2006/relationships/slide" Target="/ppt/slides/slide18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/>
        </p:nvSpPr>
        <p:spPr>
          <a:xfrm>
            <a:off x="1153849" y="1501345"/>
            <a:ext cx="6661800" cy="900300"/>
          </a:xfrm>
          <a:prstGeom prst="rect">
            <a:avLst/>
          </a:prstGeom>
          <a:solidFill>
            <a:srgbClr val="233039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Intelligent Learning Platform Development</a:t>
            </a:r>
            <a:endParaRPr b="0" i="0" sz="2700" u="none" cap="none" strike="noStrik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pic>
        <p:nvPicPr>
          <p:cNvPr descr="A picture containing text, logo, font, graphics&#10;&#10;Description automatically generated" id="60" name="Google Shape;6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4922" y="0"/>
            <a:ext cx="2149079" cy="120801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/>
          <p:nvPr/>
        </p:nvSpPr>
        <p:spPr>
          <a:xfrm>
            <a:off x="0" y="4791075"/>
            <a:ext cx="9144000" cy="95100"/>
          </a:xfrm>
          <a:prstGeom prst="rect">
            <a:avLst/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/>
          <p:nvPr/>
        </p:nvSpPr>
        <p:spPr>
          <a:xfrm flipH="1" rot="10800000">
            <a:off x="0" y="4930228"/>
            <a:ext cx="9144000" cy="34200"/>
          </a:xfrm>
          <a:prstGeom prst="rect">
            <a:avLst/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5423410" y="3576838"/>
            <a:ext cx="4111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/>
              <a:t>Team members:</a:t>
            </a:r>
            <a:endParaRPr b="1"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/>
              <a:t>1RVU23CSE125  - C J Sakshi</a:t>
            </a:r>
            <a:endParaRPr b="1"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/>
              <a:t>1RVU23CSE162 -  Gagana K</a:t>
            </a:r>
            <a:endParaRPr b="1"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/>
              <a:t>1RVU23CSE280  - Mohammed Ismail</a:t>
            </a:r>
            <a:endParaRPr b="1"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/>
              <a:t>1RVU23CSE369 -  Rakshitha K</a:t>
            </a:r>
            <a:endParaRPr/>
          </a:p>
        </p:txBody>
      </p:sp>
      <p:sp>
        <p:nvSpPr>
          <p:cNvPr id="64" name="Google Shape;64;p1"/>
          <p:cNvSpPr txBox="1"/>
          <p:nvPr/>
        </p:nvSpPr>
        <p:spPr>
          <a:xfrm>
            <a:off x="335910" y="3384539"/>
            <a:ext cx="44619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Guide: 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Prof. Durgarao Guttula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/>
              <a:t>Assistant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Professor</a:t>
            </a:r>
            <a:endParaRPr b="1"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/>
              <a:t>External Guide:</a:t>
            </a:r>
            <a:endParaRPr b="1"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/>
              <a:t>Anush G R</a:t>
            </a:r>
            <a:endParaRPr b="1"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School of Computer Science and Engineering 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RV University, Bangalore 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420360" y="179071"/>
            <a:ext cx="739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School of Computer Science and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1990025" y="2739206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14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External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037c32216_0_0"/>
          <p:cNvSpPr/>
          <p:nvPr/>
        </p:nvSpPr>
        <p:spPr>
          <a:xfrm>
            <a:off x="0" y="179325"/>
            <a:ext cx="7125600" cy="7281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Contents </a:t>
            </a:r>
            <a:endParaRPr b="1" i="0" sz="2200" u="none" cap="none" strike="noStrik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2" name="Google Shape;72;g3e037c32216_0_0"/>
          <p:cNvSpPr txBox="1"/>
          <p:nvPr/>
        </p:nvSpPr>
        <p:spPr>
          <a:xfrm>
            <a:off x="374191" y="1080551"/>
            <a:ext cx="8037300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 and Problem definition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 &amp; Scope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Literature Survey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Requirement Specification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approach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Architecture diagram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0" i="0" lang="en-US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Innovation</a:t>
            </a:r>
            <a:endParaRPr b="0" i="0" sz="13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0" i="0" lang="en-US" sz="13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Implementation</a:t>
            </a:r>
            <a:endParaRPr b="0" i="0" sz="1300" u="none" cap="none" strike="noStrike">
              <a:solidFill>
                <a:schemeClr val="dk1"/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0" i="0" lang="en-US" sz="13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Testing</a:t>
            </a:r>
            <a:endParaRPr b="0" i="0" sz="1300" u="none" cap="none" strike="noStrike">
              <a:solidFill>
                <a:schemeClr val="dk1"/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&amp; Software Requirements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/>
          <p:nvPr/>
        </p:nvSpPr>
        <p:spPr>
          <a:xfrm>
            <a:off x="268132" y="89948"/>
            <a:ext cx="7125600" cy="7281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Problem Definition</a:t>
            </a:r>
            <a:endParaRPr b="1" sz="2200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268125" y="1014875"/>
            <a:ext cx="80628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Necessity and Benefits: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Traditional interviews require significant human effort and time.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Resume screening is often manual, subjective, and inconsistent.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Recruiters struggle to assess technical depth early in the hiring process.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Benefits: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Automates early-stage candidate screening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Ensures consistent and unbiased questioning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Saves recr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iter time and cost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Provides structured feedback and scoring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This can be adopted for practicing the interviews beforehand for freshers and those who wants the experience of interviews.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/>
        </p:nvSpPr>
        <p:spPr>
          <a:xfrm>
            <a:off x="744970" y="1248949"/>
            <a:ext cx="73479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Relevance: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AI-based recruitment is widely adopted in industry HR systems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Relevant to AI, NLP, Software Engineering, and Data Science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Addresses real-world hiring challenges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Expected Outcomes: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Resume-based skill extraction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Adaptive interview question generation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Candidate capability scoring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Personalized dashboard for candidates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2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Problem Definition</a:t>
            </a:r>
            <a:endParaRPr b="1" sz="2200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2329125" y="381276"/>
            <a:ext cx="4493400" cy="5919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2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Introduction - Background</a:t>
            </a:r>
            <a:endParaRPr b="1" sz="2200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2200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713145" y="1180524"/>
            <a:ext cx="73479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Background: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Growth in job applications makes manual screening infeasible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Existing systems rely heavily on keyword filtering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Lack of deep skill evaluation before interviews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Technology Context: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Advances in NLP and Large Language Models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Availability of cloud platforms and AI APIs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088521fe2_0_1"/>
          <p:cNvSpPr/>
          <p:nvPr/>
        </p:nvSpPr>
        <p:spPr>
          <a:xfrm>
            <a:off x="886350" y="381275"/>
            <a:ext cx="5936100" cy="5919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2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Problem Statement and Scope</a:t>
            </a:r>
            <a:endParaRPr b="1" sz="2200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2200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6" name="Google Shape;96;g3d088521fe2_0_1"/>
          <p:cNvSpPr txBox="1"/>
          <p:nvPr/>
        </p:nvSpPr>
        <p:spPr>
          <a:xfrm>
            <a:off x="730150" y="1094100"/>
            <a:ext cx="7347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To design and develop an AI system that: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Parses resumes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Extracts relevant skills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Conducts adaptive interviews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Evaluates candidate responses objectively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g3d088521fe2_0_1"/>
          <p:cNvSpPr txBox="1"/>
          <p:nvPr/>
        </p:nvSpPr>
        <p:spPr>
          <a:xfrm>
            <a:off x="801300" y="2571750"/>
            <a:ext cx="3401700" cy="17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Scope of the Project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Included: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Resume upload and parsing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Skill extraction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Question generation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Answer evaluation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g3d088521fe2_0_1"/>
          <p:cNvSpPr txBox="1"/>
          <p:nvPr/>
        </p:nvSpPr>
        <p:spPr>
          <a:xfrm>
            <a:off x="4798400" y="2912300"/>
            <a:ext cx="3759000" cy="14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Excluded (current phase):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Live video interviews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Full enterprise ATS integration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088521fe2_0_10"/>
          <p:cNvSpPr/>
          <p:nvPr/>
        </p:nvSpPr>
        <p:spPr>
          <a:xfrm>
            <a:off x="2329125" y="381276"/>
            <a:ext cx="4493400" cy="5919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2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Objectives</a:t>
            </a:r>
            <a:endParaRPr b="1" sz="2200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2200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" name="Google Shape;104;g3d088521fe2_0_10"/>
          <p:cNvSpPr txBox="1"/>
          <p:nvPr/>
        </p:nvSpPr>
        <p:spPr>
          <a:xfrm>
            <a:off x="662120" y="1218599"/>
            <a:ext cx="73479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Primary Objectives: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Adaptive Assessment: Real-time difficulty scaling based on candidate mastery.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Multimodal Evaluation: Combined technical and behavioral (Vision AI) analysis.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Intelligent Tracking: Persistent "Growth Ledgers" to track technical gaps over time.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Specific Objectives: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Adaptive Logic: Implement 4-level questioning (Level 1 to Level 4).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Behavioral Vision: Analyze eye contact and confidence using Llama-3.2-Vision.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Active Memory: Use past technical weaknesses to personalize re-testing.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AWS Scalability: Build a stateless, serverless backend for massive user handling.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Automated Insights: Generate instant reports on accuracy, keywords, and soft skills.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c1df7fb45_0_5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cc1df7fb45_0_5"/>
          <p:cNvSpPr txBox="1"/>
          <p:nvPr/>
        </p:nvSpPr>
        <p:spPr>
          <a:xfrm>
            <a:off x="724450" y="879300"/>
            <a:ext cx="4179600" cy="3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Resume Parser Using AI </a:t>
            </a:r>
            <a:r>
              <a:rPr b="1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[1]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resume screening is time-consuming and inefficient, especially when dealing with large numbers of applicants.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uses Natural Language Processing (NLP) techniques to extract structured information from unstructured resume documents.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steps include: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Resume text extraction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preprocessing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Named Entity Recognition (NER)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 and experience extraction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resume parsing significantly improves recruitment efficiency by automatically extracting candidate information such as skills, education, and work experience.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g3cc1df7fb45_0_5"/>
          <p:cNvSpPr txBox="1"/>
          <p:nvPr/>
        </p:nvSpPr>
        <p:spPr>
          <a:xfrm>
            <a:off x="5074325" y="1099900"/>
            <a:ext cx="37929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manual recruiter workload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speed of candidate screening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large numbers of resumes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only at the resume screening stage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evaluate candidate responses in interviews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of resume parsing with interview automation systems is not explored.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088521fe2_0_41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d088521fe2_0_41"/>
          <p:cNvSpPr txBox="1"/>
          <p:nvPr/>
        </p:nvSpPr>
        <p:spPr>
          <a:xfrm>
            <a:off x="690450" y="998375"/>
            <a:ext cx="4436400" cy="3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AI Bot for Interview Preparation </a:t>
            </a:r>
            <a:r>
              <a:rPr b="1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[2]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Candidates often lack realistic environments for interview practice.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uses: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for frontend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 for backend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OpenAI API for question generation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Azure Speech Services for voice interaction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chatbots can simulate interview conversations and provide feedback to help candidates improve.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g3d088521fe2_0_41"/>
          <p:cNvSpPr txBox="1"/>
          <p:nvPr/>
        </p:nvSpPr>
        <p:spPr>
          <a:xfrm>
            <a:off x="5278425" y="1389050"/>
            <a:ext cx="3163800" cy="25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interview simulation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Voice-based conversation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 feedback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 are mostly predefined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personalization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Interview questions are not generated from candidate resumes.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088521fe2_0_46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d088521fe2_0_46"/>
          <p:cNvSpPr txBox="1"/>
          <p:nvPr/>
        </p:nvSpPr>
        <p:spPr>
          <a:xfrm>
            <a:off x="75405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interviews cannot objectively evaluate candidate behavior and communication.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uses multimodal AI analysis, including: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Speech recognition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Facial expression recognition using computer vision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classifiers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Analyzing both speech and facial expressions provides better candidate evaluation compared to text-only analysis.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g3d088521fe2_0_46"/>
          <p:cNvSpPr txBox="1"/>
          <p:nvPr/>
        </p:nvSpPr>
        <p:spPr>
          <a:xfrm>
            <a:off x="495900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Captures behavioral indicators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holistic candidate evaluation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cameras and audio processing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computational cost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Lightweight web-based AI interview systems are not addressed.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g3d088521fe2_0_46"/>
          <p:cNvSpPr txBox="1"/>
          <p:nvPr/>
        </p:nvSpPr>
        <p:spPr>
          <a:xfrm>
            <a:off x="754050" y="963850"/>
            <a:ext cx="6378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AI-Based Interview System with Machine Learning </a:t>
            </a:r>
            <a:r>
              <a:rPr b="1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[3]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088521fe2_0_63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d088521fe2_0_63"/>
          <p:cNvSpPr txBox="1"/>
          <p:nvPr/>
        </p:nvSpPr>
        <p:spPr>
          <a:xfrm>
            <a:off x="75405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Recruitment processes require scalable interview solutions.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uses conversational AI techniques: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 for conversation understanding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Voice-to-text conversion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Text-to-speech synthesis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chatbots can simulate real interview conversations and assist candidates in preparing for job interviews.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g3d088521fe2_0_63"/>
          <p:cNvSpPr txBox="1"/>
          <p:nvPr/>
        </p:nvSpPr>
        <p:spPr>
          <a:xfrm>
            <a:off x="495900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Realistic conversation simulation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interview platform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contextual reasoning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conversation flow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follow-up question generation is missing.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g3d088521fe2_0_63"/>
          <p:cNvSpPr txBox="1"/>
          <p:nvPr/>
        </p:nvSpPr>
        <p:spPr>
          <a:xfrm>
            <a:off x="754050" y="963850"/>
            <a:ext cx="6378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AI-Powered Interview Assistant Chatbot </a:t>
            </a:r>
            <a:r>
              <a:rPr b="1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[4]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088521fe2_0_73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d088521fe2_0_73"/>
          <p:cNvSpPr txBox="1"/>
          <p:nvPr/>
        </p:nvSpPr>
        <p:spPr>
          <a:xfrm>
            <a:off x="761500" y="164227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Candidates often lack tools to objectively assess interview performance.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uses: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MERN stack architecture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NLP-based semantic similarity algorithms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Speech recognition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Candidate answers are compared with expected answers.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similarity scoring can evaluate candidate responses automatically.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g3d088521fe2_0_73"/>
          <p:cNvSpPr txBox="1"/>
          <p:nvPr/>
        </p:nvSpPr>
        <p:spPr>
          <a:xfrm>
            <a:off x="4966450" y="164227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answer evaluation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candidates identify weaknesses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limited to text similarity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analyze reasoning depth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reasoning models such as LLMs are not used.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g3d088521fe2_0_73"/>
          <p:cNvSpPr txBox="1"/>
          <p:nvPr/>
        </p:nvSpPr>
        <p:spPr>
          <a:xfrm>
            <a:off x="761500" y="1019525"/>
            <a:ext cx="6378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Mock Interview System for Automated Skill Assessment </a:t>
            </a:r>
            <a:r>
              <a:rPr b="1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[5]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088521fe2_0_83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d088521fe2_0_83"/>
          <p:cNvSpPr txBox="1"/>
          <p:nvPr/>
        </p:nvSpPr>
        <p:spPr>
          <a:xfrm>
            <a:off x="754050" y="1610175"/>
            <a:ext cx="3881700" cy="27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Recruitment processes involve repetitive manual interview stages.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uses: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NLP-based question generation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algorithms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bots can conduct preliminary interviews and filter candidates efficiently.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g3d088521fe2_0_83"/>
          <p:cNvSpPr txBox="1"/>
          <p:nvPr/>
        </p:nvSpPr>
        <p:spPr>
          <a:xfrm>
            <a:off x="495900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recruiter workload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large candidate pools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capability for complex discussions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conversation and adaptive questioning are not implemented.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g3d088521fe2_0_83"/>
          <p:cNvSpPr txBox="1"/>
          <p:nvPr/>
        </p:nvSpPr>
        <p:spPr>
          <a:xfrm>
            <a:off x="754050" y="963850"/>
            <a:ext cx="6378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Interview Bot for Hiring Process Optimization </a:t>
            </a:r>
            <a:r>
              <a:rPr b="1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[6]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088521fe2_0_93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d088521fe2_0_93"/>
          <p:cNvSpPr txBox="1"/>
          <p:nvPr/>
        </p:nvSpPr>
        <p:spPr>
          <a:xfrm>
            <a:off x="754050" y="1610175"/>
            <a:ext cx="3881700" cy="27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evaluation of communication skills in interviews is subjective.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analyzes candidate performance using: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Speech-to-text conversion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Facial expression recognition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Grammar analysis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 fluency and facial expressions can provide indicators of candidate confidence and communication ability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g3d088521fe2_0_93"/>
          <p:cNvSpPr txBox="1"/>
          <p:nvPr/>
        </p:nvSpPr>
        <p:spPr>
          <a:xfrm>
            <a:off x="495900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interview evaluation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communication analysis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webcam and microphone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Privacy concerns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Lightweight text-based evaluation approaches are not explored.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g3d088521fe2_0_93"/>
          <p:cNvSpPr txBox="1"/>
          <p:nvPr/>
        </p:nvSpPr>
        <p:spPr>
          <a:xfrm>
            <a:off x="789225" y="1033525"/>
            <a:ext cx="6378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Interview Assessment System </a:t>
            </a:r>
            <a:r>
              <a:rPr b="1" lang="en-US" sz="1200" u="sng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[7]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088521fe2_0_103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d088521fe2_0_103"/>
          <p:cNvSpPr txBox="1"/>
          <p:nvPr/>
        </p:nvSpPr>
        <p:spPr>
          <a:xfrm>
            <a:off x="754050" y="1610175"/>
            <a:ext cx="3881700" cy="27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Recruiters struggle to evaluate many candidates efficiently.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uses: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NLP-based question generation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Speech recognition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evaluation models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interview bots can standardize interviews and reduce bias.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g3d088521fe2_0_103"/>
          <p:cNvSpPr txBox="1"/>
          <p:nvPr/>
        </p:nvSpPr>
        <p:spPr>
          <a:xfrm>
            <a:off x="495900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Consistent evaluation criteria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recruitment system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Difficulty understanding complex responses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language models capable of deeper reasoning are not used.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g3d088521fe2_0_103"/>
          <p:cNvSpPr txBox="1"/>
          <p:nvPr/>
        </p:nvSpPr>
        <p:spPr>
          <a:xfrm>
            <a:off x="754050" y="1033525"/>
            <a:ext cx="6378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Interview Bot: Automating Recruitment Process Using NLP and ML </a:t>
            </a:r>
            <a:r>
              <a:rPr b="1" lang="en-US" sz="1200" u="sng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[8]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088521fe2_0_113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d088521fe2_0_113"/>
          <p:cNvSpPr txBox="1"/>
          <p:nvPr/>
        </p:nvSpPr>
        <p:spPr>
          <a:xfrm>
            <a:off x="754050" y="1610175"/>
            <a:ext cx="3881700" cy="27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applications require scalable and secure API architecture.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paper analyzes REST architecture principles including: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Stateless communication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Resource-based API design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Versioning strategies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practices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 REST API design improves scalability and maintainability of distributed systems.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g3d088521fe2_0_113"/>
          <p:cNvSpPr txBox="1"/>
          <p:nvPr/>
        </p:nvSpPr>
        <p:spPr>
          <a:xfrm>
            <a:off x="495900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backend reliability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Easier integration between systems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Focuses on backend architecture only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of REST architecture in AI interview systems is not explored.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g3d088521fe2_0_113"/>
          <p:cNvSpPr txBox="1"/>
          <p:nvPr/>
        </p:nvSpPr>
        <p:spPr>
          <a:xfrm>
            <a:off x="754050" y="1033525"/>
            <a:ext cx="6378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Practices in REST API Design for Scalability and Security </a:t>
            </a:r>
            <a:r>
              <a:rPr b="1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[9]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088521fe2_0_123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d088521fe2_0_123"/>
          <p:cNvSpPr txBox="1"/>
          <p:nvPr/>
        </p:nvSpPr>
        <p:spPr>
          <a:xfrm>
            <a:off x="754050" y="1610175"/>
            <a:ext cx="3881700" cy="27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React applications suffer from performance and SEO limitations.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study compares Next.js and React applications using performance metrics such as: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Contentful Paint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to Interactive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Next.js improves loading speed and SEO performance through server-side rendering.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g3d088521fe2_0_123"/>
          <p:cNvSpPr txBox="1"/>
          <p:nvPr/>
        </p:nvSpPr>
        <p:spPr>
          <a:xfrm>
            <a:off x="495900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page rendering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user experience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Focuses on frontend performance only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of Next.js in AI-driven interview platforms is not analyzed.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g3d088521fe2_0_123"/>
          <p:cNvSpPr txBox="1"/>
          <p:nvPr/>
        </p:nvSpPr>
        <p:spPr>
          <a:xfrm>
            <a:off x="754050" y="1033525"/>
            <a:ext cx="6378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Evaluating the Efficacy of </a:t>
            </a:r>
            <a:r>
              <a:rPr b="1"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Next.js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4"/>
              </a:rPr>
              <a:t>[10]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088521fe2_0_135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d088521fe2_0_135"/>
          <p:cNvSpPr txBox="1"/>
          <p:nvPr/>
        </p:nvSpPr>
        <p:spPr>
          <a:xfrm>
            <a:off x="754050" y="1610175"/>
            <a:ext cx="3881700" cy="27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GPU-based AI inference can be slow and energy-intensive.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Groq introduces LPU (Language Processing Unit) architecture for efficient AI inference.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LPU architecture processes AI tokens in pipeline stages, enabling faster inference.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g3d088521fe2_0_135"/>
          <p:cNvSpPr txBox="1"/>
          <p:nvPr/>
        </p:nvSpPr>
        <p:spPr>
          <a:xfrm>
            <a:off x="495900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High-speed AI inference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 efficiency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Focuses on hardware architecture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of LPU-based AI inference in recruitment systems is not explored.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g3d088521fe2_0_135"/>
          <p:cNvSpPr txBox="1"/>
          <p:nvPr/>
        </p:nvSpPr>
        <p:spPr>
          <a:xfrm>
            <a:off x="754050" y="1033525"/>
            <a:ext cx="6378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Groq LPU AI Inference Architecture </a:t>
            </a:r>
            <a:r>
              <a:rPr b="1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[11]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 txBox="1"/>
          <p:nvPr/>
        </p:nvSpPr>
        <p:spPr>
          <a:xfrm>
            <a:off x="560425" y="1013075"/>
            <a:ext cx="7347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Resume Ingestion: CV upload and automated skill extraction.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Active Memory: Identification of past performance gaps via DynamoDB.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Dynamic Generation: 4-level adaptive technical Q&amp;A generation.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Multimodal Capture: Real-time Voice, Video, and Text input processing.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Evaluation Hub: Hybrid technical and Vision AI (Llama 3.2) analysis.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Adaptive Cycle: Logic-driven Hints, Retries, or Difficulty Progression.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Persistence: Final report generation and session history sync.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Proposed 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088521fe2_0_161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Proposed 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g3d088521fe2_0_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450" y="977575"/>
            <a:ext cx="6882051" cy="371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088521fe2_0_15"/>
          <p:cNvSpPr txBox="1"/>
          <p:nvPr/>
        </p:nvSpPr>
        <p:spPr>
          <a:xfrm>
            <a:off x="628700" y="1081950"/>
            <a:ext cx="37032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Frameworks and Models: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Vision-Language Models: Llama 3.2 Vision for behavioral/confidence analysis.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Reasoning Engine: Bedrock Nova Lite for adaptive technical Q&amp;A.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Backend Stack: High-performance FastAPI with AWS Lambda integration.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Data Collection Techniques: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Multimodal Input: Base64 video frames and real-time voice-to-text streams.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Document Tier: Resume PDFs stored in AWS S3 with automated parsing triggers.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Stateful Metadata: Performance "History Ledgers" from DynamoDB for RAG context.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g3d088521fe2_0_15"/>
          <p:cNvSpPr/>
          <p:nvPr/>
        </p:nvSpPr>
        <p:spPr>
          <a:xfrm>
            <a:off x="2159375" y="228375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2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Methodology - Data Collection &amp;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d088521fe2_0_15"/>
          <p:cNvSpPr txBox="1"/>
          <p:nvPr/>
        </p:nvSpPr>
        <p:spPr>
          <a:xfrm>
            <a:off x="4679350" y="1047000"/>
            <a:ext cx="3810000" cy="3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Data Analysis Procedures: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Vision-Behavioral Hub: Synchronous frame analysis to detect eye contact, visibility, and presence.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Semantic Weakness Extraction: Identifying technical "Gaps" from user answers compared to industry-standard project requirements.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Adaptive Evaluation: Calculating "Difficulty Scores" to determine if the candidate moves to a higher-tier conceptual level.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088521fe2_0_21"/>
          <p:cNvSpPr txBox="1"/>
          <p:nvPr/>
        </p:nvSpPr>
        <p:spPr>
          <a:xfrm>
            <a:off x="789025" y="935700"/>
            <a:ext cx="3703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Project Execution Steps: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Identity Handshake: Secure authentication and personalized dashboard initialization.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Context Loading: Resume skill extraction and historical performance rehydration.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Adaptive Loop: Continuous cycle of Q&amp;A, Multimodal evaluation, and Difficulty scaling.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Behavioral Sync: Real-time camera confidence scoring layered over technical accuracy.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 Persistence: Final report generation and DynamoDB "Growth Ledger" update.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g3d088521fe2_0_21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2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Methodology - Data Collection &amp;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d088521fe2_0_21"/>
          <p:cNvSpPr txBox="1"/>
          <p:nvPr/>
        </p:nvSpPr>
        <p:spPr>
          <a:xfrm>
            <a:off x="4696950" y="935700"/>
            <a:ext cx="3810000" cy="3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Quality Assurance Measures: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State Recovery Testing: Ensuring stateless Lambda functions can rehydrate interview context without data loss.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Vision LLM Guardrails: Preventing AI hallucinations by cross-referencing behavioral cues with technical performance.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Performance Latency Checks: Optimizing sub-second response times for Voice/Video stream processing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c1df7fb45_0_17"/>
          <p:cNvSpPr txBox="1"/>
          <p:nvPr/>
        </p:nvSpPr>
        <p:spPr>
          <a:xfrm>
            <a:off x="684914" y="1187273"/>
            <a:ext cx="73479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Layer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Next.js 15 Frontend: Dynamic dashboard with Web Speech &amp; MediaRecorder APIs for multimodal input.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Layer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 Brain: Handles consolidated prompting, adaptive logic scaling, and evaluation engine tasks.</a:t>
            </a:r>
            <a:b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 Layer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Cloud: Lambda (Compute), DynamoDB (State Ledger), S3 (Storage), API Gateway.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Groq/Bedrock API: High-speed inference for technical reasoning and Vision analysis.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g3cc1df7fb45_0_17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Design approach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037c32216_0_55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2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Architecture diagram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g3e037c32216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1725"/>
            <a:ext cx="8839201" cy="2540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c1df7fb45_0_11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Requirement Specification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cc1df7fb45_0_11"/>
          <p:cNvSpPr txBox="1"/>
          <p:nvPr/>
        </p:nvSpPr>
        <p:spPr>
          <a:xfrm>
            <a:off x="600975" y="1082900"/>
            <a:ext cx="3971100" cy="3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Objective and Functional scope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Interview Engine: Implement 4-level difficulty scaling using Active Memory RAG.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 Input Processing: Capture and analyze Text, Voice, and Base64 Video frames.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Vision-Language Analysis: Integrate Llama 3.2 Vision for camera confidence and soft-skill scoring.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Skill-Gap Identification: Automated resume parsing to target specific candidate technical weaknesses.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Session Persistence: Generation of "Growth Ledgers" and historical report tracking via DynamoDB.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</a:t>
            </a: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processes the following data: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Candidate resumes (PDF/DOCX)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Extracted candidate skills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Candidate responses to interview questions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Interview evaluation metrics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data is stored securely for interview history and analytics.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g3cc1df7fb45_0_11"/>
          <p:cNvSpPr txBox="1"/>
          <p:nvPr/>
        </p:nvSpPr>
        <p:spPr>
          <a:xfrm>
            <a:off x="4768175" y="1065900"/>
            <a:ext cx="4048200" cy="3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Requirements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authentication and personalized dashboard access.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Resume-based interview personalization and skill re-testing.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 response submission (Voice/Video/Text).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088521fe2_0_151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Requirement Specification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d088521fe2_0_151"/>
          <p:cNvSpPr txBox="1"/>
          <p:nvPr/>
        </p:nvSpPr>
        <p:spPr>
          <a:xfrm>
            <a:off x="600975" y="848200"/>
            <a:ext cx="3971100" cy="3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Requirements (System Features)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Handshake Tier: CV parsing and automated skill extraction.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 Tier: Dynamic, context-aware question generation and difficulty scaling.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Tier: Hybrid scoring using technical accuracy and behavioral analysis.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Persistence Tier: Secure storage of session history and PDF report generation.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Non-Functional Requirements (System Performance &amp; Constraints)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Scalability: Event-driven architecture supports unlimited concurrent sessions.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Responsiveness: Sub-second latency for adaptive question generation and frame analysis.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Reliability: Stateless rehydration ensures zero data loss during session interrupts.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Integrity: Automated integrity checks for tab-switching and environment focus.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g3d088521fe2_0_151"/>
          <p:cNvSpPr txBox="1"/>
          <p:nvPr/>
        </p:nvSpPr>
        <p:spPr>
          <a:xfrm>
            <a:off x="4572075" y="1004450"/>
            <a:ext cx="4048200" cy="3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Environment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Layer: Next.js 15 with integrated Web Speech &amp; MediaRecorder APIs.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 Layer: FastAPI running on AWS Lambda (Stateless Architecture).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Inference: Groq (Llama 3.2) and Amazon Bedrock (Nova Lite).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Infrastructure: AWS DynamoDB (History Ledger) &amp; AWS S3 (Asset Storage).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"/>
          <p:cNvSpPr txBox="1"/>
          <p:nvPr/>
        </p:nvSpPr>
        <p:spPr>
          <a:xfrm>
            <a:off x="551663" y="848188"/>
            <a:ext cx="82833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Novelty in Concept: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Active Memory RAG: Unlike basic bots, our system uses a persistent DynamoDB Performance Ledger to track technical weaknesses over time and re-test them.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Multimodal Evaluation Hub: Synchronous analysis of Technical Alignment (NLP) and Behavioral Confidence (Vision AI) for a 360-degree candidate score.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Pedagogical Scaffolding: Implementation of "Hint/Retry" logic that calculates candidate Potential rather than just binary accuracy.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Technological Innovation: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Vision-Language Integration: Deployment of Llama 3.2 Vision for real-time camera eye-contact and presence detection.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Consolidated Reasoning Pipeline: A single-turn LLM architecture that performs Evaluation, Decisioning, and Next-Level Question Generation simultaneously.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Stateless Serverless Deployment: An event-driven AWS Lambda architecture ensuring infinite scalability with zero fixed costs.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Innovations</a:t>
            </a:r>
            <a:endParaRPr b="1" i="0" sz="2200" u="none" cap="none" strike="noStrik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088521fe2_0_27"/>
          <p:cNvSpPr txBox="1"/>
          <p:nvPr/>
        </p:nvSpPr>
        <p:spPr>
          <a:xfrm>
            <a:off x="789025" y="935700"/>
            <a:ext cx="37032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Social / Industry Impact: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Hiring Equity: Eliminating subconscious human bias through standardized, evidence-based AI evaluation.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Hyper-Scalability: Enabling organizations to perform 10,000+ concurrent screenings without increasing HR headcount.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Predictive Growth: Moving from "Pass/Fail" results to a "Growth Ledger" that maps a candidate’s learning trajectory.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g3d088521fe2_0_27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2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Sustainability, Impact and Future 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d088521fe2_0_27"/>
          <p:cNvSpPr txBox="1"/>
          <p:nvPr/>
        </p:nvSpPr>
        <p:spPr>
          <a:xfrm>
            <a:off x="4679350" y="1047000"/>
            <a:ext cx="3810000" cy="3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Future Applications: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Enterprise Recruitment SaaS: A B2B platform for specialized high-volume tech hiring.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Institutional Mock Suites: Integration into University placement cells (like RVU) for large-scale student training.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Real-time Skill Certification: Continuous assessment tools for internal corporate upskilling.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037c32216_0_62"/>
          <p:cNvSpPr txBox="1"/>
          <p:nvPr/>
        </p:nvSpPr>
        <p:spPr>
          <a:xfrm>
            <a:off x="430338" y="1220738"/>
            <a:ext cx="82833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•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Consolidated Thinking Architecture: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Developed a centralized "Evolve-Think-Ask" prompting engine that evaluates, decides difficulty, and generates questions in a single sub-second turn.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•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Stateless State Rehydration: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Implemented a secure state-syncing pipeline between the Next.js 15 frontend and the AWS Lambda backend using a persistent DynamoDB ledger.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•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Multimodal Capture Pipeline: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Engineered a real-time system to process high-frequency Base64 video frames and Voice-to-Text streams using Web Speech &amp; MediaRecorder APIs.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•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Serverless Event-Driven Migration: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Transitioned the architecture to a fully stateless AWS serverless environment to enable 100% scalability and zero infrastructure maintenance.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g3e037c32216_0_62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Implementation</a:t>
            </a:r>
            <a:endParaRPr b="1" i="0" sz="2200" u="none" cap="none" strike="noStrik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037c32216_0_117"/>
          <p:cNvSpPr txBox="1"/>
          <p:nvPr/>
        </p:nvSpPr>
        <p:spPr>
          <a:xfrm>
            <a:off x="430338" y="984888"/>
            <a:ext cx="8283300" cy="3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Adaptive Logic Calibration: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Performed controlled trials using "Mock CV Profiles" to verify that candidates are accurately promoted or demoted across the 4-level difficulty scale.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Vision AI Thresholding: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Optimized Llama 3.2 Vision thresholds to ensure accurate detection of eye contact and professional presence across varied lighting and hardware setups.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Stateless Resilience Testing: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Verified that the interview "heartbeat" can successfully recover from tab-switching, browser refreshes, or network blips without losing the candidate's progress.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Integrity Verification (QA):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Implemented and tested automated focus-loss detection to penalize tab-switching and ensure behavioral integrity during the session.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Latency Benchmarking: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Measured and optimized the "Input-to-Question" cycle time to ensure sub-three-second response times for a natural interview flow.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g3e037c32216_0_117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Testing</a:t>
            </a:r>
            <a:endParaRPr b="1" i="0" sz="2200" u="none" cap="none" strike="noStrik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"/>
          <p:cNvSpPr txBox="1"/>
          <p:nvPr/>
        </p:nvSpPr>
        <p:spPr>
          <a:xfrm>
            <a:off x="739125" y="1322375"/>
            <a:ext cx="73479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Hardware: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Standard personal computer with camera and microphone.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Stable internet connection for sub-second cloud inference.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Software: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Frontend Layer: Next.js 15, Web Speech API, MediaRecorder.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Logic Layer: FastAPI hosted on AWS Lambda (Stateless compute).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Infrastructure Layer: AWS DynamoDB (Performance state) and AWS S3 (Asset storage).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Core AI Layer: Groq (Vision LLMs) and Bedrock Nova Lite (Reasoning).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Hardware and/ or System Requirement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References</a:t>
            </a:r>
            <a:endParaRPr b="1" i="0" sz="2200" u="none" cap="none" strike="noStrik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405425" y="1109775"/>
            <a:ext cx="8493300" cy="3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[1]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M. Chiranjeevi, “A Review Paper on Resume Parser Using AI,”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Creative Research Thoughts (IJCRT)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12, no. 2, pp. 1–5, 2024.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4"/>
              </a:rPr>
              <a:t>[2]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K. Waghmare, G. Patil, P. Bhalerao, and S. Shelke, “AI Bot for Interview Preparation,”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Scientific Research in Engineering and Management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2024.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5"/>
              </a:rPr>
              <a:t>[3]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P. Pandeya, S. Sharma, and A. Singh, “AI-Based Interview System with Machine Learning,”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Research Publication and Reviews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6, no. 2, pp. 1–6, 2025.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6"/>
              </a:rPr>
              <a:t>[4]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A. Singh, R. Kumar, and S. Gupta, “AI-Powered Interview Assistant Chatbot,”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Scientific Research in Engineering and Development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8, no. 1, pp. 1–7, 2025.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7"/>
              </a:rPr>
              <a:t>[5]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V. Verma, R. Singh, and P. Sharma, “AI-Powered Mock Interview System for Automated Skill Assessment,”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Scientific Research and Engineering Trends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11, no. 2, pp. 1–6, 2025.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8"/>
              </a:rPr>
              <a:t>[6]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S. S. Chavan, P. Patil, and A. Deshmukh, “Automated Interview Bot for Hiring Process Optimization,”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Engineering Research &amp; Technology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13, no. 4, pp. 1–5, 2024.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7991d7ea6_0_3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References</a:t>
            </a:r>
            <a:endParaRPr b="1" i="0" sz="2200" u="none" cap="none" strike="noStrik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5" name="Google Shape;285;g3d7991d7ea6_0_3"/>
          <p:cNvSpPr txBox="1"/>
          <p:nvPr/>
        </p:nvSpPr>
        <p:spPr>
          <a:xfrm>
            <a:off x="405425" y="1109775"/>
            <a:ext cx="8493300" cy="3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[7]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S. Vasekar, A. Patil, and P. Kulkarni, “Automated Interview Assessment System,”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Novel Research and Development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10, no. 3, pp. 1–5, 2025.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4"/>
              </a:rPr>
              <a:t>[8]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A. Caldera, S. Perera, and K. Silva, “Interview Bot: Automating Recruitment Process Using Natural Language Processing and Machine Learning,”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Proceedings of the International Conference on Artificial Intelligence and Applications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pp. 45–50, 2023.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5"/>
              </a:rPr>
              <a:t>[9]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G. N. Ashwath and G. Priyanka, “Best Practices in REST API Design for Enhanced Scalability and Security,”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 of Artificial Intelligence, Machine Learning and Data Science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4, no. 2, pp. 120–128, 2024.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6"/>
              </a:rPr>
              <a:t>[10]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S. Pati and Y. Zaki, “Evaluating the Efficacy of Next.js for Modern Web Applications,”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 preprint arXiv:2501.12345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2025.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7"/>
              </a:rPr>
              <a:t>[11]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S. Raghavan, I. Arsovski, and D. Maheshwari, “Groq LPU: A New Architecture for AI Inference,”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Groq Technical Whitepaper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2024.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"/>
          <p:cNvSpPr txBox="1"/>
          <p:nvPr/>
        </p:nvSpPr>
        <p:spPr>
          <a:xfrm>
            <a:off x="2215663" y="1806723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Sheela S</dc:creator>
</cp:coreProperties>
</file>