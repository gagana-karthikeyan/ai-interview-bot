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Cantarell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isiq4yi9wuMM601DiuAm0+/1Fe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ntarell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Cantarell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Cantarell-italic.fntdata"/><Relationship Id="rId16" Type="http://schemas.openxmlformats.org/officeDocument/2006/relationships/slide" Target="slides/slide11.xml"/><Relationship Id="rId38" Type="http://schemas.openxmlformats.org/officeDocument/2006/relationships/font" Target="fonts/Cantarell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088521fe2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d088521fe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088521fe2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088521f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c1df7fb45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cc1df7fb4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088521fe2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d088521fe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088521fe2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088521fe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088521fe2_0_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d088521fe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088521fe2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d088521fe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088521fe2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088521fe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088521fe2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d088521fe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088521fe2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d088521fe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088521fe2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d088521fe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088521fe2_0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088521fe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088521fe2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d088521fe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088521fe2_0_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d088521fe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088521fe2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d088521fe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088521fe2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d088521fe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c1df7fb45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cc1df7fb4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c1df7fb45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cc1df7fb4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088521fe2_0_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d088521fe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088521fe2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d088521fe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7991d7ea6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d7991d7ea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and gold rectangles&#10;&#10;Description automatically generated with low confidence" id="14" name="Google Shape;14;p14"/>
          <p:cNvPicPr preferRelativeResize="0"/>
          <p:nvPr/>
        </p:nvPicPr>
        <p:blipFill rotWithShape="1">
          <a:blip r:embed="rId2">
            <a:alphaModFix amt="2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logo, font, graphics&#10;&#10;Description automatically generated" id="15" name="Google Shape;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7532" y="1"/>
            <a:ext cx="2016469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4"/>
          <p:cNvSpPr/>
          <p:nvPr/>
        </p:nvSpPr>
        <p:spPr>
          <a:xfrm>
            <a:off x="0" y="4676776"/>
            <a:ext cx="9144000" cy="466800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4"/>
          <p:cNvSpPr/>
          <p:nvPr/>
        </p:nvSpPr>
        <p:spPr>
          <a:xfrm>
            <a:off x="0" y="5109210"/>
            <a:ext cx="9144000" cy="34200"/>
          </a:xfrm>
          <a:prstGeom prst="round2SameRect">
            <a:avLst>
              <a:gd fmla="val 0" name="adj1"/>
              <a:gd fmla="val 0" name="adj2"/>
            </a:avLst>
          </a:prstGeom>
          <a:solidFill>
            <a:srgbClr val="D7AC5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29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2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29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29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29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29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30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slide" Target="/ppt/slides/slide30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slide" Target="/ppt/slides/slide30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next.js" TargetMode="External"/><Relationship Id="rId4" Type="http://schemas.openxmlformats.org/officeDocument/2006/relationships/slide" Target="/ppt/slides/slide30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30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slide" Target="/ppt/slides/slide8.xml"/><Relationship Id="rId4" Type="http://schemas.openxmlformats.org/officeDocument/2006/relationships/slide" Target="/ppt/slides/slide9.xml"/><Relationship Id="rId5" Type="http://schemas.openxmlformats.org/officeDocument/2006/relationships/slide" Target="/ppt/slides/slide10.xml"/><Relationship Id="rId6" Type="http://schemas.openxmlformats.org/officeDocument/2006/relationships/slide" Target="/ppt/slides/slide11.xml"/><Relationship Id="rId7" Type="http://schemas.openxmlformats.org/officeDocument/2006/relationships/slide" Target="/ppt/slides/slide12.xml"/><Relationship Id="rId8" Type="http://schemas.openxmlformats.org/officeDocument/2006/relationships/slide" Target="/ppt/slides/slide13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slide" Target="/ppt/slides/slide13.xml"/><Relationship Id="rId4" Type="http://schemas.openxmlformats.org/officeDocument/2006/relationships/slide" Target="/ppt/slides/slide15.xml"/><Relationship Id="rId5" Type="http://schemas.openxmlformats.org/officeDocument/2006/relationships/slide" Target="/ppt/slides/slide16.xml"/><Relationship Id="rId6" Type="http://schemas.openxmlformats.org/officeDocument/2006/relationships/slide" Target="/ppt/slides/slide17.xml"/><Relationship Id="rId7" Type="http://schemas.openxmlformats.org/officeDocument/2006/relationships/slide" Target="/ppt/slides/slide18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/>
        </p:nvSpPr>
        <p:spPr>
          <a:xfrm>
            <a:off x="1153849" y="1501345"/>
            <a:ext cx="6661800" cy="9003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Intelligent Learning Platform Development</a:t>
            </a:r>
            <a:endParaRPr b="0" i="0" sz="27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pic>
        <p:nvPicPr>
          <p:cNvPr descr="A picture containing text, logo, font, graphics&#10;&#10;Description automatically generated" id="60" name="Google Shape;6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4922" y="0"/>
            <a:ext cx="2149079" cy="120801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/>
          <p:nvPr/>
        </p:nvSpPr>
        <p:spPr>
          <a:xfrm>
            <a:off x="0" y="4791075"/>
            <a:ext cx="9144000" cy="951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 flipH="1" rot="10800000">
            <a:off x="0" y="4930228"/>
            <a:ext cx="9144000" cy="34200"/>
          </a:xfrm>
          <a:prstGeom prst="rect">
            <a:avLst/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5423410" y="3576838"/>
            <a:ext cx="4111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Team members: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1RVU23CSE125  - C J Sakshi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1RVU23CSE162 -  Gagana K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1RVU23CSE280  - Mohammed Ismail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1RVU23CSE369 -  Rakshitha K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335910" y="3384539"/>
            <a:ext cx="44619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Guide: 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Prof. </a:t>
            </a:r>
            <a:r>
              <a:rPr b="1" lang="en-US" sz="1100"/>
              <a:t>Sheela S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Assistant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Professor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External Guide: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/>
              <a:t>Anush G R</a:t>
            </a:r>
            <a:endParaRPr b="1"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of Computer Science and Engineering 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RV University, Bangalore 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420360" y="179071"/>
            <a:ext cx="739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School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990025" y="2739206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14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External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/>
          <p:nvPr/>
        </p:nvSpPr>
        <p:spPr>
          <a:xfrm>
            <a:off x="0" y="179325"/>
            <a:ext cx="7125600" cy="7281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Contents </a:t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374191" y="1080551"/>
            <a:ext cx="80373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and Problem definition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Scope 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i="0" sz="1800" u="none" cap="none" strike="noStrike">
              <a:solidFill>
                <a:schemeClr val="dk1"/>
              </a:solidFill>
              <a:highlight>
                <a:schemeClr val="accent6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Requirement Specification</a:t>
            </a:r>
            <a:endParaRPr i="0" sz="1800" u="none" cap="none" strike="noStrike">
              <a:solidFill>
                <a:schemeClr val="dk1"/>
              </a:solidFill>
              <a:highlight>
                <a:schemeClr val="accent6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Design approach</a:t>
            </a:r>
            <a:endParaRPr i="0" sz="1800" u="none" cap="none" strike="noStrike">
              <a:solidFill>
                <a:schemeClr val="dk1"/>
              </a:solidFill>
              <a:highlight>
                <a:schemeClr val="accent6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Architecture diagram </a:t>
            </a:r>
            <a:endParaRPr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Innovation</a:t>
            </a:r>
            <a:endParaRPr i="0" sz="1800" u="none" cap="none" strike="noStrike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&amp; Software Requirements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268132" y="89948"/>
            <a:ext cx="7125600" cy="7281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Problem Definition</a:t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268125" y="1014875"/>
            <a:ext cx="80628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Necessity and Benefits: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Traditional interviews require significant human effort and time.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Resume screening is often manual, subjective, and inconsistent.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Recruiters struggle to assess technical depth early in the hiring process.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Benefits: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Automates early-stage candidate screening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Ensures consistent and unbiased questioning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Saves recr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iter time and cost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Provides structured feedback and scoring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This can be adopted for practicing the interviews beforehand for freshers and those who wants the experience of interviews.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/>
        </p:nvSpPr>
        <p:spPr>
          <a:xfrm>
            <a:off x="744970" y="1248949"/>
            <a:ext cx="7347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Relevance: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AI-based recruitment is widely adopted in industry HR systems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Relevant to AI, NLP, Software Engineering, and Data Science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Addresses real-world hiring challenges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Expected Outcomes: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Resume-based skill extraction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Adaptive interview question generation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Candidate capability scoring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Personalized dashboard for candidates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Problem Definition</a:t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2329125" y="381276"/>
            <a:ext cx="4493400" cy="5919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Introduction - Background</a:t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713145" y="1180524"/>
            <a:ext cx="73479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Background: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Growth in job applications makes manual screening infeasible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Existing systems rely heavily on keyword filtering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Lack of deep skill evaluation before interviews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Technology Context: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Advances in NLP and Large Language Models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Availability of cloud platforms and AI APIs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088521fe2_0_1"/>
          <p:cNvSpPr/>
          <p:nvPr/>
        </p:nvSpPr>
        <p:spPr>
          <a:xfrm>
            <a:off x="886350" y="381275"/>
            <a:ext cx="5936100" cy="5919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Problem Statement and Scope</a:t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96" name="Google Shape;96;g3d088521fe2_0_1"/>
          <p:cNvSpPr txBox="1"/>
          <p:nvPr/>
        </p:nvSpPr>
        <p:spPr>
          <a:xfrm>
            <a:off x="730150" y="1094100"/>
            <a:ext cx="7347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To design and develop an AI system that: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Parses resumes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Extracts relevant skills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Conducts adaptive interviews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Evaluates candidate responses objectively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g3d088521fe2_0_1"/>
          <p:cNvSpPr txBox="1"/>
          <p:nvPr/>
        </p:nvSpPr>
        <p:spPr>
          <a:xfrm>
            <a:off x="801300" y="2571750"/>
            <a:ext cx="3401700" cy="17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Scope of the Project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Included: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Resume upload and parsing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Skill extraction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Question generation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Answer evaluation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3d088521fe2_0_1"/>
          <p:cNvSpPr txBox="1"/>
          <p:nvPr/>
        </p:nvSpPr>
        <p:spPr>
          <a:xfrm>
            <a:off x="4798400" y="2912300"/>
            <a:ext cx="3759000" cy="14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Excluded (current phase):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Live video interviews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Full enterprise ATS integration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088521fe2_0_10"/>
          <p:cNvSpPr/>
          <p:nvPr/>
        </p:nvSpPr>
        <p:spPr>
          <a:xfrm>
            <a:off x="2329125" y="381276"/>
            <a:ext cx="4493400" cy="5919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Objectives</a:t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2200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104" name="Google Shape;104;g3d088521fe2_0_10"/>
          <p:cNvSpPr txBox="1"/>
          <p:nvPr/>
        </p:nvSpPr>
        <p:spPr>
          <a:xfrm>
            <a:off x="662120" y="1218599"/>
            <a:ext cx="73479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Primary Objectives: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Automate early interview screening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Reduce recruiter workload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Improve interview consistency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Specific Objectives: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Extract CV–JD skill overlap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Generate multi-level interview questions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Evaluate answers using AI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Store interview summaries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Build a scalable foundation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c1df7fb45_0_5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cc1df7fb45_0_5"/>
          <p:cNvSpPr txBox="1"/>
          <p:nvPr/>
        </p:nvSpPr>
        <p:spPr>
          <a:xfrm>
            <a:off x="724450" y="879300"/>
            <a:ext cx="4179600" cy="3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Parser Using AI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[1]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resume screening is time-consuming and inefficient, especially when dealing with large numbers of applicants.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 Natural Language Processing (NLP) techniques to extract structured information from unstructured resume documents.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steps include: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text extraction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preprocessing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Named Entity Recognition (NER)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 and experience extraction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resume parsing significantly improves recruitment efficiency by automatically extracting candidate information such as skills, education, and work experience.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g3cc1df7fb45_0_5"/>
          <p:cNvSpPr txBox="1"/>
          <p:nvPr/>
        </p:nvSpPr>
        <p:spPr>
          <a:xfrm>
            <a:off x="5074325" y="1099900"/>
            <a:ext cx="37929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manual recruiter workload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speed of candidate screening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large numbers of resumes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only at the resume screening stage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evaluate candidate responses in interviews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resume parsing with interview automation systems is not explored.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088521fe2_0_41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d088521fe2_0_41"/>
          <p:cNvSpPr txBox="1"/>
          <p:nvPr/>
        </p:nvSpPr>
        <p:spPr>
          <a:xfrm>
            <a:off x="690450" y="998375"/>
            <a:ext cx="4436400" cy="3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AI Bot for Interview Preparation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[2]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Candidates often lack realistic environments for interview practice.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for frontend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for backend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OpenAI API for question generation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Azure Speech Services for voice interaction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chatbots can simulate interview conversations and provide feedback to help candidates improve.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g3d088521fe2_0_41"/>
          <p:cNvSpPr txBox="1"/>
          <p:nvPr/>
        </p:nvSpPr>
        <p:spPr>
          <a:xfrm>
            <a:off x="5278425" y="1389050"/>
            <a:ext cx="3163800" cy="25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interview simulation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Voice-based conversation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feedback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are mostly predefined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personalization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Interview questions are not generated from candidate resumes.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88521fe2_0_46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d088521fe2_0_46"/>
          <p:cNvSpPr txBox="1"/>
          <p:nvPr/>
        </p:nvSpPr>
        <p:spPr>
          <a:xfrm>
            <a:off x="75405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interviews cannot objectively evaluate candidate behavior and communication.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 multimodal AI analysis, including: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recognition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Facial expression recognition using computer vision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classifiers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 both speech and facial expressions provides better candidate evaluation compared to text-only analysis.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d088521fe2_0_46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behavioral indicators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holistic candidate evaluation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cameras and audio processing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computational cost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web-based AI interview systems are not addressed.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d088521fe2_0_46"/>
          <p:cNvSpPr txBox="1"/>
          <p:nvPr/>
        </p:nvSpPr>
        <p:spPr>
          <a:xfrm>
            <a:off x="754050" y="963850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AI-Based Interview System with Machine Learning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[3]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088521fe2_0_6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d088521fe2_0_63"/>
          <p:cNvSpPr txBox="1"/>
          <p:nvPr/>
        </p:nvSpPr>
        <p:spPr>
          <a:xfrm>
            <a:off x="75405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Recruitment processes require scalable interview solutions.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 conversational AI techniques: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 for conversation understanding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Voice-to-text conversion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Text-to-speech synthesis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chatbots can simulate real interview conversations and assist candidates in preparing for job interviews.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g3d088521fe2_0_6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Realistic conversation simulation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interview platform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contextual reasoning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conversation flow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follow-up question generation is missing.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d088521fe2_0_63"/>
          <p:cNvSpPr txBox="1"/>
          <p:nvPr/>
        </p:nvSpPr>
        <p:spPr>
          <a:xfrm>
            <a:off x="754050" y="963850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AI-Powered Interview Assistant Chatbot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[4]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088521fe2_0_7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d088521fe2_0_73"/>
          <p:cNvSpPr txBox="1"/>
          <p:nvPr/>
        </p:nvSpPr>
        <p:spPr>
          <a:xfrm>
            <a:off x="761500" y="164227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Candidates often lack tools to objectively assess interview performance.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MERN stack architecture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NLP-based semantic similarity algorithms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recognition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 answers are compared with expected answers.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Semantic similarity scoring can evaluate candidate responses automatically.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g3d088521fe2_0_73"/>
          <p:cNvSpPr txBox="1"/>
          <p:nvPr/>
        </p:nvSpPr>
        <p:spPr>
          <a:xfrm>
            <a:off x="4966450" y="164227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answer evaluation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candidates identify weaknesses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limited to text similarity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analyze reasoning depth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reasoning models such as LLMs are not used.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g3d088521fe2_0_73"/>
          <p:cNvSpPr txBox="1"/>
          <p:nvPr/>
        </p:nvSpPr>
        <p:spPr>
          <a:xfrm>
            <a:off x="761500" y="1019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Mock Interview System for Automated Skill Assessment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[5]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088521fe2_0_8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d088521fe2_0_83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Recruitment processes involve repetitive manual interview stages.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NLP-based question generation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algorithms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bots can conduct preliminary interviews and filter candidates efficiently.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d088521fe2_0_8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recruiter workload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large candidate pools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capability for complex discussions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conversation and adaptive questioning are not implemented.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g3d088521fe2_0_83"/>
          <p:cNvSpPr txBox="1"/>
          <p:nvPr/>
        </p:nvSpPr>
        <p:spPr>
          <a:xfrm>
            <a:off x="754050" y="963850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Interview Bot for Hiring Process Optimization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[6]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088521fe2_0_9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d088521fe2_0_93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evaluation of communication skills in interviews is subjective.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analyzes candidate performance using: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Speech-to-text conversion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Facial expression recognition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Grammar analysis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 fluency and facial expressions can provide indicators of candidate confidence and communication ability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d088521fe2_0_9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interview evaluation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communication analysis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webcam and microphone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Privacy concerns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text-based evaluation approaches are not explored.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3d088521fe2_0_93"/>
          <p:cNvSpPr txBox="1"/>
          <p:nvPr/>
        </p:nvSpPr>
        <p:spPr>
          <a:xfrm>
            <a:off x="789225" y="1033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Interview Assessment System </a:t>
            </a:r>
            <a:r>
              <a:rPr b="1" lang="en-US" sz="1200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[7]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088521fe2_0_10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d088521fe2_0_103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Recruiters struggle to evaluate many candidates efficiently.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uses: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NLP-based question generation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recognition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 analysis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evaluation models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interview bots can standardize interviews and reduce bias.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g3d088521fe2_0_10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Consistent evaluation criteria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recruitment system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understanding complex responses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language models capable of deeper reasoning are not used.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d088521fe2_0_103"/>
          <p:cNvSpPr txBox="1"/>
          <p:nvPr/>
        </p:nvSpPr>
        <p:spPr>
          <a:xfrm>
            <a:off x="754050" y="1033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Interview Bot: Automating Recruitment Process Using NLP and ML </a:t>
            </a:r>
            <a:r>
              <a:rPr b="1" lang="en-US" sz="1200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[8]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088521fe2_0_11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d088521fe2_0_113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applications require scalable and secure API architecture.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paper analyzes REST architecture principles including: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Stateless communication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Resource-based API design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Versioning strategies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practices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 REST API design improves scalability and maintainability of distributed systems.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g3d088521fe2_0_11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backend reliability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Easier integration between systems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backend architecture only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of REST architecture in AI interview systems is not explored.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g3d088521fe2_0_113"/>
          <p:cNvSpPr txBox="1"/>
          <p:nvPr/>
        </p:nvSpPr>
        <p:spPr>
          <a:xfrm>
            <a:off x="754050" y="1033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Practices in REST API Design for Scalability and Security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[9]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088521fe2_0_12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d088521fe2_0_123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React applications suffer from performance and SEO limitations.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study compares Next.js and React applications using performance metrics such as: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Contentful Paint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to Interactive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Next.js improves loading speed and SEO performance through server-side rendering.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3d088521fe2_0_123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page rendering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user experience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frontend performance only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of Next.js in AI-driven interview platforms is not analyzed.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g3d088521fe2_0_123"/>
          <p:cNvSpPr txBox="1"/>
          <p:nvPr/>
        </p:nvSpPr>
        <p:spPr>
          <a:xfrm>
            <a:off x="754050" y="1033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Evaluating the Efficacy of </a:t>
            </a:r>
            <a:r>
              <a:rPr b="1"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Next.js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4"/>
              </a:rPr>
              <a:t>[10]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088521fe2_0_135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Literature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d088521fe2_0_135"/>
          <p:cNvSpPr txBox="1"/>
          <p:nvPr/>
        </p:nvSpPr>
        <p:spPr>
          <a:xfrm>
            <a:off x="754050" y="1610175"/>
            <a:ext cx="3881700" cy="27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Addressed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GPU-based AI inference can be slow and energy-intensive.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Groq introduces LPU (Language Processing Unit) architecture for efficient AI inference.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LPU architecture processes AI tokens in pipeline stages, enabling faster inference.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3d088521fe2_0_135"/>
          <p:cNvSpPr txBox="1"/>
          <p:nvPr/>
        </p:nvSpPr>
        <p:spPr>
          <a:xfrm>
            <a:off x="4959000" y="1470825"/>
            <a:ext cx="38817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High-speed AI inference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efficiency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hardware architecture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of LPU-based AI inference in recruitment systems is not explored.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g3d088521fe2_0_135"/>
          <p:cNvSpPr txBox="1"/>
          <p:nvPr/>
        </p:nvSpPr>
        <p:spPr>
          <a:xfrm>
            <a:off x="754050" y="1033525"/>
            <a:ext cx="63783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Groq LPU AI Inference Architecture </a:t>
            </a:r>
            <a:r>
              <a:rPr b="1"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[11]</a:t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/>
        </p:nvSpPr>
        <p:spPr>
          <a:xfrm>
            <a:off x="560425" y="1013075"/>
            <a:ext cx="73479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Candidate uploads resume.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Resume is parsed and skills are extracted.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AI generates interview questions based on skills.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Candidate answers questions through text/voice/video.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AI evaluates responses based on technical and behavioral metrics.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system either asks follow-up questions or moves to the next skill.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 final interview report is generated.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Proposed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088521fe2_0_161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Proposed 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g3d088521fe2_0_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825" y="1072648"/>
            <a:ext cx="8508610" cy="3327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088521fe2_0_15"/>
          <p:cNvSpPr txBox="1"/>
          <p:nvPr/>
        </p:nvSpPr>
        <p:spPr>
          <a:xfrm>
            <a:off x="789025" y="935700"/>
            <a:ext cx="37032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Frameworks and Models: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Resume parsing using NLP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AI-based reasoning for interviews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Rule-assisted + LLM evaluation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Data Collection Techniques: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Resume PDFs (text input)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Job descriptions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Simulated interview answers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Test CV Pparsing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g3d088521fe2_0_15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Methodology - Data Collection &amp;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d088521fe2_0_15"/>
          <p:cNvSpPr txBox="1"/>
          <p:nvPr/>
        </p:nvSpPr>
        <p:spPr>
          <a:xfrm>
            <a:off x="4679350" y="1047000"/>
            <a:ext cx="3810000" cy="3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Data Analysis Procedures: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Text preprocessing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Skill extraction using keyword + semantic matching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30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AI-based qualitative evaluation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088521fe2_0_21"/>
          <p:cNvSpPr txBox="1"/>
          <p:nvPr/>
        </p:nvSpPr>
        <p:spPr>
          <a:xfrm>
            <a:off x="789025" y="935700"/>
            <a:ext cx="3703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Project Execution Steps: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Signup and Login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Personalized Dashboard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Resume upload and parsing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Skill extraction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Question generation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Answer evaluation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Dashboard visualization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g3d088521fe2_0_21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Methodology - Data Collection &amp;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d088521fe2_0_21"/>
          <p:cNvSpPr txBox="1"/>
          <p:nvPr/>
        </p:nvSpPr>
        <p:spPr>
          <a:xfrm>
            <a:off x="4696950" y="935700"/>
            <a:ext cx="3810000" cy="3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Quality Assurance Measures: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Modular testing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Controlled trial runs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Validation using known CV pairs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Safe defaults to prevent system crashes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c1df7fb45_0_17"/>
          <p:cNvSpPr txBox="1"/>
          <p:nvPr/>
        </p:nvSpPr>
        <p:spPr>
          <a:xfrm>
            <a:off x="684914" y="1187273"/>
            <a:ext cx="7347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Layer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Next.js frontend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APIs for media input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Layer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backend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processor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Interview engine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management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 Layer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Groq LLM API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Supabase authentication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storage</a:t>
            </a:r>
            <a:b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layer-based design ensures modularity, scalability, 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maintainability.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g3cc1df7fb45_0_17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Design approach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g3cc1df7fb45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001375"/>
            <a:ext cx="3869275" cy="3509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c1df7fb45_0_11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Requirement Specification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cc1df7fb45_0_11"/>
          <p:cNvSpPr txBox="1"/>
          <p:nvPr/>
        </p:nvSpPr>
        <p:spPr>
          <a:xfrm>
            <a:off x="600975" y="1082900"/>
            <a:ext cx="39711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AI-based interview automation system.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candidate skills automatically from resumes.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skill-based interview questions using AI.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 dynamic interviews with adaptive follow-up questions.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candidate responses using LLM reasoning.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automated interview feedback and reports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Requirements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processes the following data: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 resumes (PDF/DOCX)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Extracted candidate skills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 responses to interview questions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Interview evaluation metrics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data is stored securely for interview history and analytics.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g3cc1df7fb45_0_11"/>
          <p:cNvSpPr txBox="1"/>
          <p:nvPr/>
        </p:nvSpPr>
        <p:spPr>
          <a:xfrm>
            <a:off x="4768175" y="1065900"/>
            <a:ext cx="4048200" cy="3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Requirements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should be able to register and log in securely.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should be able to upload resumes for skill extraction.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should be able to start AI-based interview sessions.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should be able to submit answers via text or voice.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should receive AI-generated feedback and interview reports.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088521fe2_0_151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Requirement Specification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d088521fe2_0_151"/>
          <p:cNvSpPr txBox="1"/>
          <p:nvPr/>
        </p:nvSpPr>
        <p:spPr>
          <a:xfrm>
            <a:off x="600975" y="848200"/>
            <a:ext cx="39711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Requirements (System Features)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registration, login, and authentication.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upload in PDF/DOCX formats.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resume parsing and skill extraction.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 of AI-based interview questions based on extracted skills.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 dynamic interview sessions with adaptive follow-up questions.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candidate responses through text, voice, or video input.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AI-based evaluation of candidate responses (technical, communication, confidence).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final interview reports and performance feedback.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interview history and results for future reference.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Non-Functional Requirements (System Performance &amp; Constraints)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should generate questions and evaluation results within a few seconds.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g3d088521fe2_0_151"/>
          <p:cNvSpPr txBox="1"/>
          <p:nvPr/>
        </p:nvSpPr>
        <p:spPr>
          <a:xfrm>
            <a:off x="4572075" y="1004450"/>
            <a:ext cx="4048200" cy="3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Scalability: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should support multiple concurrent users.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Secure authentication and safe handling of candidate data.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should maintain stable operation during interview sessions.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Interface should be simple and user-friendly.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Maintainability: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Modular architecture for easy updates and feature additions.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Environment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Next.js web application running in modern browsers.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FastAPI server handling API requests and interview logic.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Layer: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Groq LLM API for question generation and response evaluation.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Storage: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Supabase/Firebase for user data, resumes, and interview history.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 txBox="1"/>
          <p:nvPr/>
        </p:nvSpPr>
        <p:spPr>
          <a:xfrm>
            <a:off x="543638" y="1154813"/>
            <a:ext cx="82833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Novelty in Concept: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Resume-driven adaptive interview flow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Depth-based questioning (basic to advanced)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Capability classification (Strong / Medium / Weak)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Technological Innovation: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AI-generated evaluation summaries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Combined rule-based + AI reasoning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Innovations</a:t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088521fe2_0_27"/>
          <p:cNvSpPr txBox="1"/>
          <p:nvPr/>
        </p:nvSpPr>
        <p:spPr>
          <a:xfrm>
            <a:off x="789025" y="935700"/>
            <a:ext cx="3703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Social / Industry Impact: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Fairer hiring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Reduced bias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Better candidate experience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g3d088521fe2_0_27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2200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Sustainability, Impact and Future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d088521fe2_0_27"/>
          <p:cNvSpPr txBox="1"/>
          <p:nvPr/>
        </p:nvSpPr>
        <p:spPr>
          <a:xfrm>
            <a:off x="4679350" y="1047000"/>
            <a:ext cx="3810000" cy="3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Future Applications: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Corporate recruitment systems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University placement screening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Skill-based assessments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AI-driven HR analytics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Practicing the interview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Experiencing different modes of interviews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"/>
          <p:cNvSpPr txBox="1"/>
          <p:nvPr/>
        </p:nvSpPr>
        <p:spPr>
          <a:xfrm>
            <a:off x="739125" y="1322375"/>
            <a:ext cx="7347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Hardware: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Standard personal computer or laptop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Minimum 8 GB RAM for smooth local server execution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Internet connection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Software: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Frontend: Next.js (React)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Backend: FastAPI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AI APIs (Groq)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2329125" y="204700"/>
            <a:ext cx="4644000" cy="6435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Hardware and/ or System Requirement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References</a:t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405425" y="1109775"/>
            <a:ext cx="84933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[1]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M. Chiranjeevi, “A Review Paper on Resume Parser Using AI,”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Creative Research Thoughts (IJCRT)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12, no. 2, pp. 1–5, 2024.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4"/>
              </a:rPr>
              <a:t>[2]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K. Waghmare, G. Patil, P. Bhalerao, and S. Shelke, “AI Bot for Interview Preparation,”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Scientific Research in Engineering and Management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5"/>
              </a:rPr>
              <a:t>[3]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P. Pandeya, S. Sharma, and A. Singh, “AI-Based Interview System with Machine Learning,”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Research Publication and Reviews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6, no. 2, pp. 1–6,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6"/>
              </a:rPr>
              <a:t>[4]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A. Singh, R. Kumar, and S. Gupta, “AI-Powered Interview Assistant Chatbot,”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Scientific Research in Engineering and Development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8, no. 1, pp. 1–7,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7"/>
              </a:rPr>
              <a:t>[5]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V. Verma, R. Singh, and P. Sharma, “AI-Powered Mock Interview System for Automated Skill Assessment,”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Scientific Research and Engineering Trends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11, no. 2, pp. 1–6,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8"/>
              </a:rPr>
              <a:t>[6]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S. Chavan, P. Patil, and A. Deshmukh, “Automated Interview Bot for Hiring Process Optimization,”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Engineering Research &amp; Technology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13, no. 4, pp. 1–5, 2024.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7991d7ea6_0_3"/>
          <p:cNvSpPr/>
          <p:nvPr/>
        </p:nvSpPr>
        <p:spPr>
          <a:xfrm>
            <a:off x="2329132" y="381270"/>
            <a:ext cx="4179600" cy="466800"/>
          </a:xfrm>
          <a:prstGeom prst="snip2DiagRect">
            <a:avLst>
              <a:gd fmla="val 0" name="adj1"/>
              <a:gd fmla="val 43005" name="adj2"/>
            </a:avLst>
          </a:prstGeom>
          <a:solidFill>
            <a:srgbClr val="2330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200" u="none" cap="none" strike="noStrike">
                <a:solidFill>
                  <a:srgbClr val="D7AC54"/>
                </a:solidFill>
                <a:latin typeface="Cantarell"/>
                <a:ea typeface="Cantarell"/>
                <a:cs typeface="Cantarell"/>
                <a:sym typeface="Cantarell"/>
              </a:rPr>
              <a:t>References</a:t>
            </a:r>
            <a:endParaRPr b="1" i="0" sz="2200" u="none" cap="none" strike="noStrike">
              <a:solidFill>
                <a:srgbClr val="D7AC54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8" name="Google Shape;268;g3d7991d7ea6_0_3"/>
          <p:cNvSpPr txBox="1"/>
          <p:nvPr/>
        </p:nvSpPr>
        <p:spPr>
          <a:xfrm>
            <a:off x="405425" y="1109775"/>
            <a:ext cx="84933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3"/>
              </a:rPr>
              <a:t>[7]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Vasekar, A. Patil, and P. Kulkarni, “Automated Interview Assessment System,”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Novel Research and Development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10, no. 3, pp. 1–5,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4"/>
              </a:rPr>
              <a:t>[8]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A. Caldera, S. Perera, and K. Silva, “Interview Bot: Automating Recruitment Process Using Natural Language Processing and Machine Learning,”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International Conference on Artificial Intelligence and Applications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pp. 45–50, 2023.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5"/>
              </a:rPr>
              <a:t>[9]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G. N. Ashwath and G. Priyanka, “Best Practices in REST API Design for Enhanced Scalability and Security,”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Artificial Intelligence, Machine Learning and Data Science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4, no. 2, pp. 120–128, 2024.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6"/>
              </a:rPr>
              <a:t>[10]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Pati and Y. Zaki, “Evaluating the Efficacy of Next.js for Modern Web Applications,”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 arXiv:2501.12345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2025.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action="ppaction://hlinksldjump" r:id="rId7"/>
              </a:rPr>
              <a:t>[11]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 Raghavan, I. Arsovski, and D. Maheshwari, “Groq LPU: A New Architecture for AI Inference,” </a:t>
            </a:r>
            <a:r>
              <a:rPr i="1"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Groq Technical Whitepaper</a:t>
            </a:r>
            <a:r>
              <a:rPr lang="en-US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 txBox="1"/>
          <p:nvPr/>
        </p:nvSpPr>
        <p:spPr>
          <a:xfrm>
            <a:off x="2215663" y="1806723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Sheela S</dc:creator>
</cp:coreProperties>
</file>